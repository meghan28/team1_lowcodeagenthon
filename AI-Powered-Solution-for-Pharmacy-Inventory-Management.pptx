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Inter"/>
      <p:regular r:id="rId17"/>
    </p:embeddedFont>
    <p:embeddedFont>
      <p:font typeface="Inter"/>
      <p:regular r:id="rId18"/>
    </p:embeddedFont>
    <p:embeddedFont>
      <p:font typeface="Inter"/>
      <p:regular r:id="rId19"/>
    </p:embeddedFont>
    <p:embeddedFont>
      <p:font typeface="Inter"/>
      <p:regular r:id="rId20"/>
    </p:embeddedFont>
    <p:embeddedFont>
      <p:font typeface="Inter"/>
      <p:regular r:id="rId21"/>
    </p:embeddedFont>
    <p:embeddedFont>
      <p:font typeface="Inter"/>
      <p:regular r:id="rId22"/>
    </p:embeddedFont>
    <p:embeddedFont>
      <p:font typeface="Inter"/>
      <p:regular r:id="rId23"/>
    </p:embeddedFont>
    <p:embeddedFont>
      <p:font typeface="Inter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image" Target="../media/image-3-9.png"/><Relationship Id="rId10" Type="http://schemas.openxmlformats.org/officeDocument/2006/relationships/image" Target="../media/image-3-10.svg"/><Relationship Id="rId11" Type="http://schemas.openxmlformats.org/officeDocument/2006/relationships/image" Target="../media/image-3-11.png"/><Relationship Id="rId12" Type="http://schemas.openxmlformats.org/officeDocument/2006/relationships/image" Target="../media/image-3-12.svg"/><Relationship Id="rId13" Type="http://schemas.openxmlformats.org/officeDocument/2006/relationships/slideLayout" Target="../slideLayouts/slideLayout4.xml"/><Relationship Id="rId1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6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sv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svg"/><Relationship Id="rId13" Type="http://schemas.openxmlformats.org/officeDocument/2006/relationships/image" Target="../media/image-7-13.png"/><Relationship Id="rId14" Type="http://schemas.openxmlformats.org/officeDocument/2006/relationships/image" Target="../media/image-7-14.png"/><Relationship Id="rId15" Type="http://schemas.openxmlformats.org/officeDocument/2006/relationships/image" Target="../media/image-7-15.svg"/><Relationship Id="rId16" Type="http://schemas.openxmlformats.org/officeDocument/2006/relationships/image" Target="../media/image-7-16.png"/><Relationship Id="rId17" Type="http://schemas.openxmlformats.org/officeDocument/2006/relationships/image" Target="../media/image-7-17.png"/><Relationship Id="rId18" Type="http://schemas.openxmlformats.org/officeDocument/2006/relationships/image" Target="../media/image-7-18.svg"/><Relationship Id="rId19" Type="http://schemas.openxmlformats.org/officeDocument/2006/relationships/image" Target="../media/image-7-19.png"/><Relationship Id="rId20" Type="http://schemas.openxmlformats.org/officeDocument/2006/relationships/image" Target="../media/image-7-20.png"/><Relationship Id="rId21" Type="http://schemas.openxmlformats.org/officeDocument/2006/relationships/image" Target="../media/image-7-21.svg"/><Relationship Id="rId22" Type="http://schemas.openxmlformats.org/officeDocument/2006/relationships/slideLayout" Target="../slideLayouts/slideLayout8.xml"/><Relationship Id="rId2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slideLayout" Target="../slideLayouts/slideLayout10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svg"/><Relationship Id="rId13" Type="http://schemas.openxmlformats.org/officeDocument/2006/relationships/slideLayout" Target="../slideLayouts/slideLayout11.xml"/><Relationship Id="rId1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435894"/>
            <a:ext cx="7556421" cy="1860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AI-Powered Solution for Pharmacy Inventory Management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793790" y="3375422"/>
            <a:ext cx="7556421" cy="1488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Automated Forecasting | Real-time Stock Alerts | Pharmacist-Centric Workflows</a:t>
            </a:r>
            <a:endParaRPr lang="en-US" sz="3100" dirty="0"/>
          </a:p>
        </p:txBody>
      </p:sp>
      <p:sp>
        <p:nvSpPr>
          <p:cNvPr id="5" name="Text 2"/>
          <p:cNvSpPr/>
          <p:nvPr/>
        </p:nvSpPr>
        <p:spPr>
          <a:xfrm>
            <a:off x="793790" y="5161478"/>
            <a:ext cx="75564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Supply Soul: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793790" y="5702260"/>
            <a:ext cx="75564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Megha Narendra Simha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793790" y="6089213"/>
            <a:ext cx="75564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Poorrnima Vetrivelan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793790" y="6476167"/>
            <a:ext cx="75564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Nada Feteiha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48090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558778"/>
            <a:ext cx="10084118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Problem Statement: Inventory Challenges</a:t>
            </a:r>
            <a:endParaRPr lang="en-US" sz="3900" dirty="0"/>
          </a:p>
        </p:txBody>
      </p:sp>
      <p:sp>
        <p:nvSpPr>
          <p:cNvPr id="4" name="Shape 1"/>
          <p:cNvSpPr/>
          <p:nvPr/>
        </p:nvSpPr>
        <p:spPr>
          <a:xfrm>
            <a:off x="793790" y="4476512"/>
            <a:ext cx="4215289" cy="2134433"/>
          </a:xfrm>
          <a:prstGeom prst="roundRect">
            <a:avLst>
              <a:gd name="adj" fmla="val 5141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70930" y="4476512"/>
            <a:ext cx="91440" cy="2134433"/>
          </a:xfrm>
          <a:prstGeom prst="roundRect">
            <a:avLst>
              <a:gd name="adj" fmla="val 91163"/>
            </a:avLst>
          </a:prstGeom>
          <a:solidFill>
            <a:srgbClr val="4950BC"/>
          </a:solidFill>
          <a:ln/>
        </p:spPr>
      </p:sp>
      <p:sp>
        <p:nvSpPr>
          <p:cNvPr id="6" name="Text 3"/>
          <p:cNvSpPr/>
          <p:nvPr/>
        </p:nvSpPr>
        <p:spPr>
          <a:xfrm>
            <a:off x="1083588" y="4697730"/>
            <a:ext cx="3704273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Frequent Stockouts of Critical Medicines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1083588" y="5437108"/>
            <a:ext cx="370427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Running out of essential medications impacts patient care and pharmacy reputation.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5207437" y="4476512"/>
            <a:ext cx="4215408" cy="2134433"/>
          </a:xfrm>
          <a:prstGeom prst="roundRect">
            <a:avLst>
              <a:gd name="adj" fmla="val 5141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184577" y="4476512"/>
            <a:ext cx="91440" cy="2134433"/>
          </a:xfrm>
          <a:prstGeom prst="roundRect">
            <a:avLst>
              <a:gd name="adj" fmla="val 91163"/>
            </a:avLst>
          </a:prstGeom>
          <a:solidFill>
            <a:srgbClr val="4950BC"/>
          </a:solidFill>
          <a:ln/>
        </p:spPr>
      </p:sp>
      <p:sp>
        <p:nvSpPr>
          <p:cNvPr id="10" name="Text 7"/>
          <p:cNvSpPr/>
          <p:nvPr/>
        </p:nvSpPr>
        <p:spPr>
          <a:xfrm>
            <a:off x="5497235" y="4697730"/>
            <a:ext cx="3704392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Overstocking &amp; Expiry Wastage</a:t>
            </a:r>
            <a:endParaRPr lang="en-US" sz="1950" dirty="0"/>
          </a:p>
        </p:txBody>
      </p:sp>
      <p:sp>
        <p:nvSpPr>
          <p:cNvPr id="11" name="Text 8"/>
          <p:cNvSpPr/>
          <p:nvPr/>
        </p:nvSpPr>
        <p:spPr>
          <a:xfrm>
            <a:off x="5497235" y="5437108"/>
            <a:ext cx="3704392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Excess inventory leads to expired medicines and financial losses.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9621203" y="4476512"/>
            <a:ext cx="4215289" cy="2134433"/>
          </a:xfrm>
          <a:prstGeom prst="roundRect">
            <a:avLst>
              <a:gd name="adj" fmla="val 5141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598343" y="4476512"/>
            <a:ext cx="91440" cy="2134433"/>
          </a:xfrm>
          <a:prstGeom prst="roundRect">
            <a:avLst>
              <a:gd name="adj" fmla="val 91163"/>
            </a:avLst>
          </a:prstGeom>
          <a:solidFill>
            <a:srgbClr val="4950BC"/>
          </a:solidFill>
          <a:ln/>
        </p:spPr>
      </p:sp>
      <p:sp>
        <p:nvSpPr>
          <p:cNvPr id="14" name="Text 11"/>
          <p:cNvSpPr/>
          <p:nvPr/>
        </p:nvSpPr>
        <p:spPr>
          <a:xfrm>
            <a:off x="9911001" y="4697730"/>
            <a:ext cx="3704273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Manual Tracking &amp; Ordering Delays</a:t>
            </a:r>
            <a:endParaRPr lang="en-US" sz="1950" dirty="0"/>
          </a:p>
        </p:txBody>
      </p:sp>
      <p:sp>
        <p:nvSpPr>
          <p:cNvPr id="15" name="Text 12"/>
          <p:cNvSpPr/>
          <p:nvPr/>
        </p:nvSpPr>
        <p:spPr>
          <a:xfrm>
            <a:off x="9911001" y="5437108"/>
            <a:ext cx="370427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Difficulty tracking consumption patterns makes accurate ordering nearly impossible.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793790" y="6834188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solution automates and predicts pharmacy inventory management using AI agents, addressing these critical issues.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73098"/>
            <a:ext cx="6908363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Features of Our Solution</a:t>
            </a:r>
            <a:endParaRPr lang="en-US" sz="3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3790" y="1990011"/>
            <a:ext cx="496133" cy="4961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2734151"/>
            <a:ext cx="330517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Real-time Stock Monitoring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793790" y="3163372"/>
            <a:ext cx="6397347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Instant visibility into current inventory levels with low-stock alerts.</a:t>
            </a:r>
            <a:endParaRPr lang="en-US" sz="15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39144" y="1990011"/>
            <a:ext cx="496133" cy="49613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439144" y="2734151"/>
            <a:ext cx="372451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AI-Driven Demand Forecasting</a:t>
            </a:r>
            <a:endParaRPr lang="en-US" sz="1950" dirty="0"/>
          </a:p>
        </p:txBody>
      </p:sp>
      <p:sp>
        <p:nvSpPr>
          <p:cNvPr id="8" name="Text 4"/>
          <p:cNvSpPr/>
          <p:nvPr/>
        </p:nvSpPr>
        <p:spPr>
          <a:xfrm>
            <a:off x="7439144" y="3163372"/>
            <a:ext cx="639746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Predictive analytics reduce shortages and optimize stock levels.</a:t>
            </a:r>
            <a:endParaRPr lang="en-US" sz="15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3790" y="3877747"/>
            <a:ext cx="496133" cy="49613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93790" y="4621887"/>
            <a:ext cx="4842629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Alternative Medicine Recommendations</a:t>
            </a:r>
            <a:endParaRPr lang="en-US" sz="1950" dirty="0"/>
          </a:p>
        </p:txBody>
      </p:sp>
      <p:sp>
        <p:nvSpPr>
          <p:cNvPr id="11" name="Text 6"/>
          <p:cNvSpPr/>
          <p:nvPr/>
        </p:nvSpPr>
        <p:spPr>
          <a:xfrm>
            <a:off x="793790" y="5051108"/>
            <a:ext cx="6397347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Suggests substitutes when primary medicines are unavailable.</a:t>
            </a:r>
            <a:endParaRPr lang="en-US" sz="15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39144" y="3877747"/>
            <a:ext cx="496133" cy="49613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439144" y="4621887"/>
            <a:ext cx="3214330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Automated Reorder Emails</a:t>
            </a:r>
            <a:endParaRPr lang="en-US" sz="1950" dirty="0"/>
          </a:p>
        </p:txBody>
      </p:sp>
      <p:sp>
        <p:nvSpPr>
          <p:cNvPr id="14" name="Text 8"/>
          <p:cNvSpPr/>
          <p:nvPr/>
        </p:nvSpPr>
        <p:spPr>
          <a:xfrm>
            <a:off x="7439144" y="5051108"/>
            <a:ext cx="639746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Streamlined communication with suppliers for faster restocking.</a:t>
            </a:r>
            <a:endParaRPr lang="en-US" sz="15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93790" y="5765483"/>
            <a:ext cx="496133" cy="49613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93790" y="6509623"/>
            <a:ext cx="2785229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Voice-Enabled Queries</a:t>
            </a:r>
            <a:endParaRPr lang="en-US" sz="1950" dirty="0"/>
          </a:p>
        </p:txBody>
      </p:sp>
      <p:sp>
        <p:nvSpPr>
          <p:cNvPr id="17" name="Text 10"/>
          <p:cNvSpPr/>
          <p:nvPr/>
        </p:nvSpPr>
        <p:spPr>
          <a:xfrm>
            <a:off x="793790" y="6938843"/>
            <a:ext cx="6397347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Hands-free interaction for busy pharmacy environments.</a:t>
            </a:r>
            <a:endParaRPr lang="en-US" sz="155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439144" y="5765483"/>
            <a:ext cx="496133" cy="496133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7439144" y="6509623"/>
            <a:ext cx="2865358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Post-Purchase Updates</a:t>
            </a:r>
            <a:endParaRPr lang="en-US" sz="1950" dirty="0"/>
          </a:p>
        </p:txBody>
      </p:sp>
      <p:sp>
        <p:nvSpPr>
          <p:cNvPr id="20" name="Text 12"/>
          <p:cNvSpPr/>
          <p:nvPr/>
        </p:nvSpPr>
        <p:spPr>
          <a:xfrm>
            <a:off x="7439144" y="6938843"/>
            <a:ext cx="639746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Automatic inventory adjustments after transactions.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09228" y="1077158"/>
            <a:ext cx="7698343" cy="1129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3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Our Robust Tech Stack (Pharmacy Implementation)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6209228" y="2658189"/>
            <a:ext cx="2993946" cy="3388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Backend Technologies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6209228" y="3177659"/>
            <a:ext cx="3628787" cy="578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(FastMCP) - Agent orchestration for pharmacy workflows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209228" y="3819049"/>
            <a:ext cx="3628787" cy="289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PostgreSQL for scalable data storage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209228" y="4171355"/>
            <a:ext cx="3628787" cy="578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Sentence Transformers (Vector Embeddings)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209228" y="4812744"/>
            <a:ext cx="3628787" cy="289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Flask/NGROK bridge for connectivity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209228" y="5165050"/>
            <a:ext cx="3628787" cy="289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Igentic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209228" y="5517356"/>
            <a:ext cx="3628787" cy="289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OAuth &amp; Gmail API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209228" y="5869662"/>
            <a:ext cx="3628787" cy="578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Text-to-Speech (TTS) Engine for voice-enabled pharmacist interactions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209228" y="6511052"/>
            <a:ext cx="3628787" cy="578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Launchctl for scheduling daily pharmacy operations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0286405" y="2658189"/>
            <a:ext cx="2710934" cy="3388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Frontend &amp; Tools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10286405" y="3177659"/>
            <a:ext cx="3628787" cy="867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- Pharmacy dashboard with TTS-enabled chatbot for pharmacist queries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0286405" y="4108133"/>
            <a:ext cx="3628787" cy="578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Chart.js for interactive data visualisation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0286405" y="4749522"/>
            <a:ext cx="3628787" cy="289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Tailwind / Custom CSS for styling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0286405" y="5101828"/>
            <a:ext cx="3628787" cy="578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Ngrok, GitHub, VS Code for development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0286405" y="5842635"/>
            <a:ext cx="3628787" cy="289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4494" y="491252"/>
            <a:ext cx="7253883" cy="558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35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Pharmacy Workflow Architecture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714494" y="1406604"/>
            <a:ext cx="13201412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system processes pharmacist queries through a multi-stage architecture optimized for pharmacy operations:</a:t>
            </a:r>
            <a:endParaRPr lang="en-US" sz="1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4494" y="1893213"/>
            <a:ext cx="893088" cy="107168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86176" y="2071807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Pharmacist Query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1786176" y="2457926"/>
            <a:ext cx="1212973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Initiates with a pharmacist request (e.g., Stock Check, Medicine Recommendation, Reorder Status).</a:t>
            </a:r>
            <a:endParaRPr lang="en-US" sz="14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494" y="2964894"/>
            <a:ext cx="893088" cy="107168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786176" y="3143488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Orchestrator</a:t>
            </a:r>
            <a:endParaRPr lang="en-US" sz="1750" dirty="0"/>
          </a:p>
        </p:txBody>
      </p:sp>
      <p:sp>
        <p:nvSpPr>
          <p:cNvPr id="9" name="Text 5"/>
          <p:cNvSpPr/>
          <p:nvPr/>
        </p:nvSpPr>
        <p:spPr>
          <a:xfrm>
            <a:off x="1786176" y="3529608"/>
            <a:ext cx="1212973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Routes query to the appropriate pharmacy agent.</a:t>
            </a:r>
            <a:endParaRPr lang="en-US" sz="14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494" y="4036576"/>
            <a:ext cx="893088" cy="107168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786176" y="4215170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Retrieval</a:t>
            </a:r>
            <a:endParaRPr lang="en-US" sz="1750" dirty="0"/>
          </a:p>
        </p:txBody>
      </p:sp>
      <p:sp>
        <p:nvSpPr>
          <p:cNvPr id="12" name="Text 7"/>
          <p:cNvSpPr/>
          <p:nvPr/>
        </p:nvSpPr>
        <p:spPr>
          <a:xfrm>
            <a:off x="1786176" y="4601289"/>
            <a:ext cx="1212973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 fetches inventory and consumption data and also updates purchases to PostgreSQL.</a:t>
            </a:r>
            <a:endParaRPr lang="en-US" sz="14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494" y="5108258"/>
            <a:ext cx="893088" cy="107168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786176" y="5286851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Processing</a:t>
            </a:r>
            <a:endParaRPr lang="en-US" sz="1750" dirty="0"/>
          </a:p>
        </p:txBody>
      </p:sp>
      <p:sp>
        <p:nvSpPr>
          <p:cNvPr id="15" name="Text 9"/>
          <p:cNvSpPr/>
          <p:nvPr/>
        </p:nvSpPr>
        <p:spPr>
          <a:xfrm>
            <a:off x="1786176" y="5672971"/>
            <a:ext cx="1212973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Semantic search resolves medicine names; predictive analytics models forecast demand.</a:t>
            </a:r>
            <a:endParaRPr lang="en-US" sz="14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494" y="6179939"/>
            <a:ext cx="893088" cy="107168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786176" y="6358533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Output &amp; Dashboard</a:t>
            </a:r>
            <a:endParaRPr lang="en-US" sz="1750" dirty="0"/>
          </a:p>
        </p:txBody>
      </p:sp>
      <p:sp>
        <p:nvSpPr>
          <p:cNvPr id="18" name="Text 11"/>
          <p:cNvSpPr/>
          <p:nvPr/>
        </p:nvSpPr>
        <p:spPr>
          <a:xfrm>
            <a:off x="1786176" y="6744653"/>
            <a:ext cx="1212973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Agents return insights, updating the pharmacy dashboard dynamically.</a:t>
            </a:r>
            <a:endParaRPr lang="en-US" sz="1400" dirty="0"/>
          </a:p>
        </p:txBody>
      </p:sp>
      <p:sp>
        <p:nvSpPr>
          <p:cNvPr id="19" name="Text 12"/>
          <p:cNvSpPr/>
          <p:nvPr/>
        </p:nvSpPr>
        <p:spPr>
          <a:xfrm>
            <a:off x="714494" y="7452479"/>
            <a:ext cx="13201412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is Workflow 1: Real-time Pharmacist Queries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37918"/>
            <a:ext cx="117105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Workflow 2: End-of-Day Background Operations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137291"/>
            <a:ext cx="10805636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Automated inventory updates and supplier notifications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793790" y="2931081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793790" y="3245406"/>
            <a:ext cx="4215289" cy="2286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6" name="Text 4"/>
          <p:cNvSpPr/>
          <p:nvPr/>
        </p:nvSpPr>
        <p:spPr>
          <a:xfrm>
            <a:off x="793790" y="339030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End-of-Day Trigger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793790" y="3819525"/>
            <a:ext cx="4215289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Launchctl triggers background agent at end of business day.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5207437" y="2931081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5207437" y="3245406"/>
            <a:ext cx="4215408" cy="2286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0" name="Text 8"/>
          <p:cNvSpPr/>
          <p:nvPr/>
        </p:nvSpPr>
        <p:spPr>
          <a:xfrm>
            <a:off x="5207437" y="339030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Receipt Processing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5207437" y="3819525"/>
            <a:ext cx="4215408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Background Agent reads and processes all pharmacy receipts and transactions from the day.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9621203" y="2931081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9621203" y="3245406"/>
            <a:ext cx="4215289" cy="2286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4" name="Text 12"/>
          <p:cNvSpPr/>
          <p:nvPr/>
        </p:nvSpPr>
        <p:spPr>
          <a:xfrm>
            <a:off x="9621203" y="339030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Inventory Update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9621203" y="3819525"/>
            <a:ext cx="4215289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Updates inventory tables in PostgreSQL with new stock levels and consumption data.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793790" y="5119330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793790" y="5433655"/>
            <a:ext cx="6422112" cy="2286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8" name="Text 16"/>
          <p:cNvSpPr/>
          <p:nvPr/>
        </p:nvSpPr>
        <p:spPr>
          <a:xfrm>
            <a:off x="793790" y="557855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Alert Generation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793790" y="6007775"/>
            <a:ext cx="642211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Identifies low-stock items and generates reorder alerts.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7414260" y="5119330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05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7414260" y="5433655"/>
            <a:ext cx="6422231" cy="2286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22" name="Text 20"/>
          <p:cNvSpPr/>
          <p:nvPr/>
        </p:nvSpPr>
        <p:spPr>
          <a:xfrm>
            <a:off x="7414260" y="557855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Email Notifications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7414260" y="6007775"/>
            <a:ext cx="642223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Email Agent sends automated reorder emails to suppliers and alerts to pharmacy staff.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3543" y="769501"/>
            <a:ext cx="8747641" cy="565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Multi-Agent System Design (Pharmacy)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23543" y="1696403"/>
            <a:ext cx="13183314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solution employs specialized AI agents, coordinated by a central orchestrator, to streamline pharmacy inventory management and support pharmacist decision-making.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747129" y="2733556"/>
            <a:ext cx="2260997" cy="282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Greeter Agent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23543" y="3124557"/>
            <a:ext cx="4284583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Manages pharmacist interactions and provides dashboard overview.</a:t>
            </a:r>
            <a:endParaRPr lang="en-US" sz="1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08126" y="2662238"/>
            <a:ext cx="4614148" cy="4614148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18672" y="3860363"/>
            <a:ext cx="254318" cy="25431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622274" y="2478524"/>
            <a:ext cx="2260997" cy="282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Stock Agent</a:t>
            </a:r>
            <a:endParaRPr lang="en-US" sz="1750" dirty="0"/>
          </a:p>
        </p:txBody>
      </p:sp>
      <p:sp>
        <p:nvSpPr>
          <p:cNvPr id="9" name="Text 5"/>
          <p:cNvSpPr/>
          <p:nvPr/>
        </p:nvSpPr>
        <p:spPr>
          <a:xfrm>
            <a:off x="9622274" y="2869525"/>
            <a:ext cx="4284583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Monitors real-time inventory levels and identifies low-stock medicines.</a:t>
            </a:r>
            <a:endParaRPr lang="en-US" sz="14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8126" y="2662238"/>
            <a:ext cx="4614148" cy="4614148"/>
          </a:xfrm>
          <a:prstGeom prst="rect">
            <a:avLst/>
          </a:prstGeom>
        </p:spPr>
      </p:pic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538204" y="3706773"/>
            <a:ext cx="254318" cy="254317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622274" y="3719393"/>
            <a:ext cx="2260997" cy="282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Reorder Agent</a:t>
            </a:r>
            <a:endParaRPr lang="en-US" sz="1750" dirty="0"/>
          </a:p>
        </p:txBody>
      </p:sp>
      <p:sp>
        <p:nvSpPr>
          <p:cNvPr id="13" name="Text 7"/>
          <p:cNvSpPr/>
          <p:nvPr/>
        </p:nvSpPr>
        <p:spPr>
          <a:xfrm>
            <a:off x="9622274" y="4110395"/>
            <a:ext cx="4284583" cy="867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Automates reorder processes, communicates with suppliers, and sends automated alerts for critical updates.</a:t>
            </a:r>
            <a:endParaRPr lang="en-US" sz="14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08126" y="2662238"/>
            <a:ext cx="4614148" cy="4614148"/>
          </a:xfrm>
          <a:prstGeom prst="rect">
            <a:avLst/>
          </a:prstGeom>
        </p:spPr>
      </p:pic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294013" y="4408051"/>
            <a:ext cx="254318" cy="254317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9622274" y="5249585"/>
            <a:ext cx="2260997" cy="282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Demand Agent</a:t>
            </a:r>
            <a:endParaRPr lang="en-US" sz="1750" dirty="0"/>
          </a:p>
        </p:txBody>
      </p:sp>
      <p:sp>
        <p:nvSpPr>
          <p:cNvPr id="17" name="Text 9"/>
          <p:cNvSpPr/>
          <p:nvPr/>
        </p:nvSpPr>
        <p:spPr>
          <a:xfrm>
            <a:off x="9622274" y="5640586"/>
            <a:ext cx="4284583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Analyzes consumption patterns to understand patient medication needs.</a:t>
            </a:r>
            <a:endParaRPr lang="en-US" sz="1400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08126" y="2662238"/>
            <a:ext cx="4614148" cy="4614148"/>
          </a:xfrm>
          <a:prstGeom prst="rect">
            <a:avLst/>
          </a:prstGeom>
        </p:spPr>
      </p:pic>
      <p:pic>
        <p:nvPicPr>
          <p:cNvPr id="19" name="Image 7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216979" y="5436156"/>
            <a:ext cx="254318" cy="254317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9622274" y="6490454"/>
            <a:ext cx="2260997" cy="282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Forecast Agent</a:t>
            </a:r>
            <a:endParaRPr lang="en-US" sz="1750" dirty="0"/>
          </a:p>
        </p:txBody>
      </p:sp>
      <p:sp>
        <p:nvSpPr>
          <p:cNvPr id="21" name="Text 11"/>
          <p:cNvSpPr/>
          <p:nvPr/>
        </p:nvSpPr>
        <p:spPr>
          <a:xfrm>
            <a:off x="9622274" y="6881455"/>
            <a:ext cx="4284583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Predicts future demand using advanced machine learning models for optimal stock planning.</a:t>
            </a:r>
            <a:endParaRPr lang="en-US" sz="1400" dirty="0"/>
          </a:p>
        </p:txBody>
      </p:sp>
      <p:pic>
        <p:nvPicPr>
          <p:cNvPr id="22" name="Image 8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008126" y="2662238"/>
            <a:ext cx="4614148" cy="4614148"/>
          </a:xfrm>
          <a:prstGeom prst="rect">
            <a:avLst/>
          </a:prstGeom>
        </p:spPr>
      </p:pic>
      <p:pic>
        <p:nvPicPr>
          <p:cNvPr id="23" name="Image 9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365087" y="6016943"/>
            <a:ext cx="254318" cy="254317"/>
          </a:xfrm>
          <a:prstGeom prst="rect">
            <a:avLst/>
          </a:prstGeom>
        </p:spPr>
      </p:pic>
      <p:sp>
        <p:nvSpPr>
          <p:cNvPr id="24" name="Text 12"/>
          <p:cNvSpPr/>
          <p:nvPr/>
        </p:nvSpPr>
        <p:spPr>
          <a:xfrm>
            <a:off x="2747129" y="6138982"/>
            <a:ext cx="2260997" cy="282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Background Agent</a:t>
            </a:r>
            <a:endParaRPr lang="en-US" sz="1750" dirty="0"/>
          </a:p>
        </p:txBody>
      </p:sp>
      <p:sp>
        <p:nvSpPr>
          <p:cNvPr id="25" name="Text 13"/>
          <p:cNvSpPr/>
          <p:nvPr/>
        </p:nvSpPr>
        <p:spPr>
          <a:xfrm>
            <a:off x="723543" y="6529983"/>
            <a:ext cx="4284583" cy="867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Runs end-of-day operations: processes receipts, updates inventory tables, and triggers notifications for low-stock items.</a:t>
            </a:r>
            <a:endParaRPr lang="en-US" sz="1400" dirty="0"/>
          </a:p>
        </p:txBody>
      </p:sp>
      <p:pic>
        <p:nvPicPr>
          <p:cNvPr id="26" name="Image 10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008126" y="2662238"/>
            <a:ext cx="4614148" cy="4614148"/>
          </a:xfrm>
          <a:prstGeom prst="rect">
            <a:avLst/>
          </a:prstGeom>
        </p:spPr>
      </p:pic>
      <p:pic>
        <p:nvPicPr>
          <p:cNvPr id="27" name="Image 11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379845" y="5713095"/>
            <a:ext cx="254318" cy="254317"/>
          </a:xfrm>
          <a:prstGeom prst="rect">
            <a:avLst/>
          </a:prstGeom>
        </p:spPr>
      </p:pic>
      <p:sp>
        <p:nvSpPr>
          <p:cNvPr id="28" name="Text 14"/>
          <p:cNvSpPr/>
          <p:nvPr/>
        </p:nvSpPr>
        <p:spPr>
          <a:xfrm>
            <a:off x="723543" y="4246721"/>
            <a:ext cx="4284583" cy="565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Update Inventory &amp; Recommendation Agent</a:t>
            </a:r>
            <a:endParaRPr lang="en-US" sz="1750" dirty="0"/>
          </a:p>
        </p:txBody>
      </p:sp>
      <p:sp>
        <p:nvSpPr>
          <p:cNvPr id="29" name="Text 15"/>
          <p:cNvSpPr/>
          <p:nvPr/>
        </p:nvSpPr>
        <p:spPr>
          <a:xfrm>
            <a:off x="723543" y="4920258"/>
            <a:ext cx="4284583" cy="867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Updates inventory records in real-time and generates alternative medicine recommendations based on stock availability and patient needs.</a:t>
            </a:r>
            <a:endParaRPr lang="en-US" sz="1400" dirty="0"/>
          </a:p>
        </p:txBody>
      </p:sp>
      <p:pic>
        <p:nvPicPr>
          <p:cNvPr id="30" name="Image 12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008126" y="2662238"/>
            <a:ext cx="4614148" cy="4614148"/>
          </a:xfrm>
          <a:prstGeom prst="rect">
            <a:avLst/>
          </a:prstGeom>
        </p:spPr>
      </p:pic>
      <p:pic>
        <p:nvPicPr>
          <p:cNvPr id="31" name="Image 13" descr="preencoded.png">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003131" y="4753332"/>
            <a:ext cx="254318" cy="25431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723549"/>
            <a:ext cx="7556421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Dashboard Features: Intuitive &amp; Informative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793790" y="3439954"/>
            <a:ext cx="3536156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Medicine Inventory Table: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Detailed overview of all medicines with stock levels and expiry dates.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793790" y="4461986"/>
            <a:ext cx="3536156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Alerts: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Notifications for low stock, out-of-stock, and expiring medicines.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793790" y="5484019"/>
            <a:ext cx="3536156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Demand Forecast Charts: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Visual predictions for upcoming medicine demand.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4821674" y="3439954"/>
            <a:ext cx="3536156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Voice-Enabled Queries: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Hands-free interaction for busy pharmacy staff.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4821674" y="4461986"/>
            <a:ext cx="3536156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Robust Error Handling: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Comprehensive feedback for all pharmacy operations.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4821674" y="5484019"/>
            <a:ext cx="3536156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Dynamic Visuals: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Charts showing stock trends, demand patterns, and reorder recommendations.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3179" y="462796"/>
            <a:ext cx="5351383" cy="525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Impact &amp; Problems Solved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73179" y="1055965"/>
            <a:ext cx="7076599" cy="420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Transforming Pharmacy Operations with AI</a:t>
            </a:r>
            <a:endParaRPr lang="en-US" sz="2650" dirty="0"/>
          </a:p>
        </p:txBody>
      </p:sp>
      <p:sp>
        <p:nvSpPr>
          <p:cNvPr id="4" name="Shape 2"/>
          <p:cNvSpPr/>
          <p:nvPr/>
        </p:nvSpPr>
        <p:spPr>
          <a:xfrm>
            <a:off x="673179" y="1729026"/>
            <a:ext cx="13284041" cy="1385649"/>
          </a:xfrm>
          <a:prstGeom prst="roundRect">
            <a:avLst>
              <a:gd name="adj" fmla="val 5101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6039" y="1751886"/>
            <a:ext cx="673179" cy="1339929"/>
          </a:xfrm>
          <a:prstGeom prst="roundRect">
            <a:avLst>
              <a:gd name="adj" fmla="val 6426"/>
            </a:avLst>
          </a:prstGeom>
          <a:solidFill>
            <a:srgbClr val="DADBF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2613" y="2295644"/>
            <a:ext cx="252413" cy="25241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37454" y="1920121"/>
            <a:ext cx="2103715" cy="2628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Reduced Stockouts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537454" y="2283976"/>
            <a:ext cx="12228671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Before:</a:t>
            </a:r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Frequent stockouts impact patient care.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537454" y="2654260"/>
            <a:ext cx="12228671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After:</a:t>
            </a:r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Medicine availability maintained consistently.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73179" y="3282910"/>
            <a:ext cx="13284041" cy="1385649"/>
          </a:xfrm>
          <a:prstGeom prst="roundRect">
            <a:avLst>
              <a:gd name="adj" fmla="val 5101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96039" y="3305770"/>
            <a:ext cx="673179" cy="1339929"/>
          </a:xfrm>
          <a:prstGeom prst="roundRect">
            <a:avLst>
              <a:gd name="adj" fmla="val 6426"/>
            </a:avLst>
          </a:prstGeom>
          <a:solidFill>
            <a:srgbClr val="DADBF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2613" y="3849529"/>
            <a:ext cx="252413" cy="25241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37454" y="3474006"/>
            <a:ext cx="2103715" cy="2628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Lower Wastage</a:t>
            </a:r>
            <a:endParaRPr lang="en-US" sz="1650" dirty="0"/>
          </a:p>
        </p:txBody>
      </p:sp>
      <p:sp>
        <p:nvSpPr>
          <p:cNvPr id="14" name="Text 10"/>
          <p:cNvSpPr/>
          <p:nvPr/>
        </p:nvSpPr>
        <p:spPr>
          <a:xfrm>
            <a:off x="1537454" y="3837861"/>
            <a:ext cx="12228671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Before:</a:t>
            </a:r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Expired medicines due to overstocking.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1537454" y="4208145"/>
            <a:ext cx="12228671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After:</a:t>
            </a:r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Significant reduction in wastage.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73179" y="4836795"/>
            <a:ext cx="13284041" cy="1385649"/>
          </a:xfrm>
          <a:prstGeom prst="roundRect">
            <a:avLst>
              <a:gd name="adj" fmla="val 5101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96039" y="4859655"/>
            <a:ext cx="673179" cy="1339929"/>
          </a:xfrm>
          <a:prstGeom prst="roundRect">
            <a:avLst>
              <a:gd name="adj" fmla="val 6426"/>
            </a:avLst>
          </a:prstGeom>
          <a:solidFill>
            <a:srgbClr val="DADBF1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02613" y="5403413"/>
            <a:ext cx="252413" cy="25241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537454" y="5027890"/>
            <a:ext cx="2446853" cy="2628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Faster Decision-Making</a:t>
            </a:r>
            <a:endParaRPr lang="en-US" sz="1650" dirty="0"/>
          </a:p>
        </p:txBody>
      </p:sp>
      <p:sp>
        <p:nvSpPr>
          <p:cNvPr id="20" name="Text 15"/>
          <p:cNvSpPr/>
          <p:nvPr/>
        </p:nvSpPr>
        <p:spPr>
          <a:xfrm>
            <a:off x="1537454" y="5391745"/>
            <a:ext cx="12228671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Before:</a:t>
            </a:r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Manual ordering takes hours.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1537454" y="5762030"/>
            <a:ext cx="12228671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After:</a:t>
            </a:r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Automated reorders in minutes.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673179" y="6390680"/>
            <a:ext cx="13284041" cy="1385649"/>
          </a:xfrm>
          <a:prstGeom prst="roundRect">
            <a:avLst>
              <a:gd name="adj" fmla="val 5101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96039" y="6413540"/>
            <a:ext cx="673179" cy="1339929"/>
          </a:xfrm>
          <a:prstGeom prst="roundRect">
            <a:avLst>
              <a:gd name="adj" fmla="val 6426"/>
            </a:avLst>
          </a:prstGeom>
          <a:solidFill>
            <a:srgbClr val="DADBF1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02613" y="6957298"/>
            <a:ext cx="252413" cy="252413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537454" y="6581775"/>
            <a:ext cx="3022283" cy="2628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Improved Patient Satisfaction</a:t>
            </a:r>
            <a:endParaRPr lang="en-US" sz="1650" dirty="0"/>
          </a:p>
        </p:txBody>
      </p:sp>
      <p:sp>
        <p:nvSpPr>
          <p:cNvPr id="26" name="Text 20"/>
          <p:cNvSpPr/>
          <p:nvPr/>
        </p:nvSpPr>
        <p:spPr>
          <a:xfrm>
            <a:off x="1537454" y="6945630"/>
            <a:ext cx="12228671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Before:</a:t>
            </a:r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Patients leave without medicines.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1537454" y="7315914"/>
            <a:ext cx="12228671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After:</a:t>
            </a:r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Consistent availability improves satisfaction.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64619"/>
            <a:ext cx="11466552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Future Enhancements for Pharmacy Operations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1781532"/>
            <a:ext cx="4215289" cy="2269927"/>
          </a:xfrm>
          <a:prstGeom prst="roundRect">
            <a:avLst>
              <a:gd name="adj" fmla="val 3672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9768" y="1987510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4950B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63479" y="2151102"/>
            <a:ext cx="267891" cy="26789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99768" y="2781181"/>
            <a:ext cx="269474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Real-time Deployment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999768" y="3210401"/>
            <a:ext cx="3803333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Seamless cloud deployment for instant system updates and scalability.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5207437" y="1781532"/>
            <a:ext cx="4215408" cy="2269927"/>
          </a:xfrm>
          <a:prstGeom prst="roundRect">
            <a:avLst>
              <a:gd name="adj" fmla="val 3672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13415" y="1987510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4950BC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77126" y="2151102"/>
            <a:ext cx="267891" cy="26789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13415" y="2781181"/>
            <a:ext cx="257651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Real-time SMS Alerts</a:t>
            </a:r>
            <a:endParaRPr lang="en-US" sz="1950" dirty="0"/>
          </a:p>
        </p:txBody>
      </p:sp>
      <p:sp>
        <p:nvSpPr>
          <p:cNvPr id="12" name="Text 8"/>
          <p:cNvSpPr/>
          <p:nvPr/>
        </p:nvSpPr>
        <p:spPr>
          <a:xfrm>
            <a:off x="5413415" y="3210401"/>
            <a:ext cx="3803452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Instant SMS notifications to pharmacists for urgent stock situations.</a:t>
            </a:r>
            <a:endParaRPr lang="en-US" sz="1550" dirty="0"/>
          </a:p>
        </p:txBody>
      </p:sp>
      <p:sp>
        <p:nvSpPr>
          <p:cNvPr id="13" name="Shape 9"/>
          <p:cNvSpPr/>
          <p:nvPr/>
        </p:nvSpPr>
        <p:spPr>
          <a:xfrm>
            <a:off x="9621203" y="1781532"/>
            <a:ext cx="4215289" cy="2269927"/>
          </a:xfrm>
          <a:prstGeom prst="roundRect">
            <a:avLst>
              <a:gd name="adj" fmla="val 3672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9827181" y="1987510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4950B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990892" y="2151102"/>
            <a:ext cx="267891" cy="26789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27181" y="2781181"/>
            <a:ext cx="2759988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Mobile App Integration</a:t>
            </a:r>
            <a:endParaRPr lang="en-US" sz="1950" dirty="0"/>
          </a:p>
        </p:txBody>
      </p:sp>
      <p:sp>
        <p:nvSpPr>
          <p:cNvPr id="17" name="Text 12"/>
          <p:cNvSpPr/>
          <p:nvPr/>
        </p:nvSpPr>
        <p:spPr>
          <a:xfrm>
            <a:off x="9827181" y="3210401"/>
            <a:ext cx="3803333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 pharmacy inventory and alerts on-the-go via mobile app.</a:t>
            </a:r>
            <a:endParaRPr lang="en-US" sz="1550" dirty="0"/>
          </a:p>
        </p:txBody>
      </p:sp>
      <p:sp>
        <p:nvSpPr>
          <p:cNvPr id="18" name="Shape 13"/>
          <p:cNvSpPr/>
          <p:nvPr/>
        </p:nvSpPr>
        <p:spPr>
          <a:xfrm>
            <a:off x="793790" y="4249817"/>
            <a:ext cx="4215289" cy="3215164"/>
          </a:xfrm>
          <a:prstGeom prst="roundRect">
            <a:avLst>
              <a:gd name="adj" fmla="val 2593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999768" y="4455795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4950BC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63479" y="4619387"/>
            <a:ext cx="267891" cy="267891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99768" y="524946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Advanced Analytics</a:t>
            </a:r>
            <a:endParaRPr lang="en-US" sz="1950" dirty="0"/>
          </a:p>
        </p:txBody>
      </p:sp>
      <p:sp>
        <p:nvSpPr>
          <p:cNvPr id="22" name="Text 16"/>
          <p:cNvSpPr/>
          <p:nvPr/>
        </p:nvSpPr>
        <p:spPr>
          <a:xfrm>
            <a:off x="999768" y="5678686"/>
            <a:ext cx="380333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Comprehensive dashboard with deeper insights into medicine trends and forecasts.</a:t>
            </a:r>
            <a:endParaRPr lang="en-US" sz="1550" dirty="0"/>
          </a:p>
        </p:txBody>
      </p:sp>
      <p:sp>
        <p:nvSpPr>
          <p:cNvPr id="23" name="Shape 17"/>
          <p:cNvSpPr/>
          <p:nvPr/>
        </p:nvSpPr>
        <p:spPr>
          <a:xfrm>
            <a:off x="5207437" y="4249817"/>
            <a:ext cx="4215408" cy="3215164"/>
          </a:xfrm>
          <a:prstGeom prst="roundRect">
            <a:avLst>
              <a:gd name="adj" fmla="val 2593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5413415" y="4455795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4950BC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577126" y="4619387"/>
            <a:ext cx="267891" cy="267891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413415" y="5249466"/>
            <a:ext cx="3803452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Multi-branch &amp; Hospital Network Integration</a:t>
            </a:r>
            <a:endParaRPr lang="en-US" sz="1950" dirty="0"/>
          </a:p>
        </p:txBody>
      </p:sp>
      <p:sp>
        <p:nvSpPr>
          <p:cNvPr id="27" name="Text 20"/>
          <p:cNvSpPr/>
          <p:nvPr/>
        </p:nvSpPr>
        <p:spPr>
          <a:xfrm>
            <a:off x="5413415" y="5988844"/>
            <a:ext cx="3803452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Seamless connection with existing Pharmacy Management Systems (PMS) and expansion to multi-branch pharmacies or hospital networks.</a:t>
            </a:r>
            <a:endParaRPr lang="en-US" sz="1550" dirty="0"/>
          </a:p>
        </p:txBody>
      </p:sp>
      <p:sp>
        <p:nvSpPr>
          <p:cNvPr id="28" name="Shape 21"/>
          <p:cNvSpPr/>
          <p:nvPr/>
        </p:nvSpPr>
        <p:spPr>
          <a:xfrm>
            <a:off x="9621203" y="4249817"/>
            <a:ext cx="4215289" cy="3215164"/>
          </a:xfrm>
          <a:prstGeom prst="roundRect">
            <a:avLst>
              <a:gd name="adj" fmla="val 2593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9827181" y="4455795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4950BC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990892" y="4619387"/>
            <a:ext cx="267891" cy="267891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9827181" y="5249466"/>
            <a:ext cx="3803333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Medical Expiry &amp; Seasonal Demand Tracking</a:t>
            </a:r>
            <a:endParaRPr lang="en-US" sz="1950" dirty="0"/>
          </a:p>
        </p:txBody>
      </p:sp>
      <p:sp>
        <p:nvSpPr>
          <p:cNvPr id="32" name="Text 24"/>
          <p:cNvSpPr/>
          <p:nvPr/>
        </p:nvSpPr>
        <p:spPr>
          <a:xfrm>
            <a:off x="9827181" y="5988844"/>
            <a:ext cx="380333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Intelligent monitoring of medicine expiry dates and seasonal demand patterns for optimized inventory planning.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2025-12-04T01:20:19Z</dcterms:created>
  <dcterms:modified xsi:type="dcterms:W3CDTF">2025-12-04T01:20:19Z</dcterms:modified>
</cp:coreProperties>
</file>